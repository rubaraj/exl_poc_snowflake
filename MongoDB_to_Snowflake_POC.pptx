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49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C23A1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E04020">
              <a:alpha val="3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914400"/>
            <a:ext cx="502920" cy="5029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960120"/>
            <a:ext cx="411480" cy="41148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502920" cy="50292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960120"/>
            <a:ext cx="411480" cy="41148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914400"/>
            <a:ext cx="502920" cy="50292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Data Sync</a:t>
            </a:r>
            <a:endParaRPr lang="en-US" sz="3800" dirty="0"/>
          </a:p>
        </p:txBody>
      </p:sp>
      <p:sp>
        <p:nvSpPr>
          <p:cNvPr id="11" name="Text 4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E5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to Snowflake</a:t>
            </a:r>
            <a:endParaRPr lang="en-US" sz="3000" dirty="0"/>
          </a:p>
        </p:txBody>
      </p:sp>
      <p:sp>
        <p:nvSpPr>
          <p:cNvPr id="12" name="Text 5"/>
          <p:cNvSpPr/>
          <p:nvPr/>
        </p:nvSpPr>
        <p:spPr>
          <a:xfrm>
            <a:off x="1097280" y="31546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Edge-to-Cloud Pipeline with High Availability</a:t>
            </a:r>
            <a:endParaRPr lang="en-US" sz="1400" dirty="0"/>
          </a:p>
        </p:txBody>
      </p:sp>
      <p:sp>
        <p:nvSpPr>
          <p:cNvPr id="13" name="Shape 6"/>
          <p:cNvSpPr/>
          <p:nvPr/>
        </p:nvSpPr>
        <p:spPr>
          <a:xfrm>
            <a:off x="3200400" y="3749040"/>
            <a:ext cx="2743200" cy="0"/>
          </a:xfrm>
          <a:prstGeom prst="line">
            <a:avLst/>
          </a:prstGeom>
          <a:noFill/>
          <a:ln w="19050">
            <a:solidFill>
              <a:srgbClr val="FA4921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EXL POC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FA49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1887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Edge/branch systems generate data that must reach the cloud warehouse in real time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103120"/>
            <a:ext cx="54864" cy="731520"/>
          </a:xfrm>
          <a:prstGeom prst="rect">
            <a:avLst/>
          </a:prstGeom>
          <a:solidFill>
            <a:srgbClr val="FA492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40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1031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database-to-database replication is fragile — any network interruption loses data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3017520"/>
            <a:ext cx="54864" cy="731520"/>
          </a:xfrm>
          <a:prstGeom prst="rect">
            <a:avLst/>
          </a:prstGeom>
          <a:solidFill>
            <a:srgbClr val="FA492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546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0175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batch ETL introduces hours of delay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" y="3931920"/>
            <a:ext cx="54864" cy="731520"/>
          </a:xfrm>
          <a:prstGeom prst="rect">
            <a:avLst/>
          </a:prstGeom>
          <a:solidFill>
            <a:srgbClr val="FA492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690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9319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solution that is resilient, real-time, and cost-effective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Approach: Event-Driven Streaming with Kafka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FA49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1887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MongoDB Change Streams to capture every insert, update, and delete as it happens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103120"/>
            <a:ext cx="54864" cy="731520"/>
          </a:xfrm>
          <a:prstGeom prst="rect">
            <a:avLst/>
          </a:prstGeom>
          <a:solidFill>
            <a:srgbClr val="FA492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40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1031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changes through Apache Kafka as a durable, fault-tolerant message bus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3017520"/>
            <a:ext cx="54864" cy="731520"/>
          </a:xfrm>
          <a:prstGeom prst="rect">
            <a:avLst/>
          </a:prstGeom>
          <a:solidFill>
            <a:srgbClr val="FA492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546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0175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Snowflake Sink Connector delivers data to Snowflake via Snowpipe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" y="3931920"/>
            <a:ext cx="54864" cy="731520"/>
          </a:xfrm>
          <a:prstGeom prst="rect">
            <a:avLst/>
          </a:prstGeom>
          <a:solidFill>
            <a:srgbClr val="FA492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690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9319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cloud side goes down, Kafka queues all messages — zero data loss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A492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194560" cy="731520"/>
          </a:xfrm>
          <a:prstGeom prst="rect">
            <a:avLst/>
          </a:prstGeom>
          <a:solidFill>
            <a:srgbClr val="FFE5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834640"/>
            <a:ext cx="2194560" cy="731520"/>
          </a:xfrm>
          <a:prstGeom prst="rect">
            <a:avLst/>
          </a:prstGeom>
          <a:solidFill>
            <a:srgbClr val="FFE5D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718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834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Source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46120" y="2606040"/>
            <a:ext cx="914400" cy="3657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14" name="Text 10"/>
          <p:cNvSpPr/>
          <p:nvPr/>
        </p:nvSpPr>
        <p:spPr>
          <a:xfrm>
            <a:off x="3200400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 ►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297680" y="1097280"/>
            <a:ext cx="27432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A492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97680" y="1097280"/>
            <a:ext cx="2743200" cy="45720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17" name="Text 13"/>
          <p:cNvSpPr/>
          <p:nvPr/>
        </p:nvSpPr>
        <p:spPr>
          <a:xfrm>
            <a:off x="42976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0" y="1783080"/>
            <a:ext cx="2194560" cy="594360"/>
          </a:xfrm>
          <a:prstGeom prst="rect">
            <a:avLst/>
          </a:prstGeom>
          <a:solidFill>
            <a:srgbClr val="FFE5D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745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2064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(KRaft)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0" y="2560320"/>
            <a:ext cx="2194560" cy="594360"/>
          </a:xfrm>
          <a:prstGeom prst="rect">
            <a:avLst/>
          </a:prstGeom>
          <a:solidFill>
            <a:srgbClr val="FFE5D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6517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20640" y="2560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Connector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0" y="3337560"/>
            <a:ext cx="2194560" cy="594360"/>
          </a:xfrm>
          <a:prstGeom prst="rect">
            <a:avLst/>
          </a:prstGeom>
          <a:solidFill>
            <a:srgbClr val="FFE5DC"/>
          </a:solidFill>
          <a:ln/>
        </p:spPr>
      </p:sp>
      <p:sp>
        <p:nvSpPr>
          <p:cNvPr id="25" name="Text 19"/>
          <p:cNvSpPr/>
          <p:nvPr/>
        </p:nvSpPr>
        <p:spPr>
          <a:xfrm>
            <a:off x="4572000" y="3337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UI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178040" y="2606040"/>
            <a:ext cx="457200" cy="3657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27" name="Text 21"/>
          <p:cNvSpPr/>
          <p:nvPr/>
        </p:nvSpPr>
        <p:spPr>
          <a:xfrm>
            <a:off x="71780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7772400" y="1554480"/>
            <a:ext cx="11887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A492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828800"/>
            <a:ext cx="640080" cy="6400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772400" y="2560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 DW)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E040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7.0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 + MongoDB Source Connector 1.13.1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Docker Compose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15" name="Text 10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202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3.8.1 (KRaft mode)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51460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4068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 + Snowflake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Connector 2.4.0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10896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4068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UI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70332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44068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Docker Compose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Data Flows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69848"/>
            <a:ext cx="320040" cy="320040"/>
          </a:xfrm>
          <a:prstGeom prst="ellipse">
            <a:avLst/>
          </a:prstGeom>
          <a:solidFill>
            <a:srgbClr val="FA492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69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inserts/updates a document in MongoDB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FA492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9047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Change Stream emits a change event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947672"/>
            <a:ext cx="320040" cy="320040"/>
          </a:xfrm>
          <a:prstGeom prst="ellipse">
            <a:avLst/>
          </a:prstGeom>
          <a:solidFill>
            <a:srgbClr val="FA492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47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92938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Source Connector captures the event and publishes to a Kafka topic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386584"/>
            <a:ext cx="320040" cy="320040"/>
          </a:xfrm>
          <a:prstGeom prst="ellipse">
            <a:avLst/>
          </a:prstGeom>
          <a:solidFill>
            <a:srgbClr val="FA492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36829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Sink Connector consumes from the topic and stages data to Snowflake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25496"/>
            <a:ext cx="320040" cy="320040"/>
          </a:xfrm>
          <a:prstGeom prst="ellipse">
            <a:avLst/>
          </a:prstGeom>
          <a:solidFill>
            <a:srgbClr val="FA492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254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8072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Snowpipe loads the staged data into the target table within ~60 seconds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37560"/>
            <a:ext cx="73152" cy="155448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107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4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Configuration Decisions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7764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4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Database-level watching: Source connector monitors ALL collections automatically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412394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4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topic subscription: Sink connector auto-subscribes to new collections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" y="447141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4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Single-broker Kafka with KRaft mode — no Zookeeper dependency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When the Cloud Goes Down?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92024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7889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→ Kafka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0" y="105156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1051560"/>
            <a:ext cx="192024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0" y="137160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56032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1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8892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5176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Snowflake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offline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54880" y="105156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4880" y="1051560"/>
            <a:ext cx="1920240" cy="73152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20" name="Shape 16"/>
          <p:cNvSpPr/>
          <p:nvPr/>
        </p:nvSpPr>
        <p:spPr>
          <a:xfrm>
            <a:off x="5394960" y="1371600"/>
            <a:ext cx="640080" cy="640080"/>
          </a:xfrm>
          <a:prstGeom prst="ellipse">
            <a:avLst/>
          </a:prstGeom>
          <a:solidFill>
            <a:srgbClr val="FA4921"/>
          </a:solidFill>
          <a:ln/>
        </p:spPr>
      </p:sp>
      <p:sp>
        <p:nvSpPr>
          <p:cNvPr id="21" name="Text 17"/>
          <p:cNvSpPr/>
          <p:nvPr/>
        </p:nvSpPr>
        <p:spPr>
          <a:xfrm>
            <a:off x="5394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475488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</a:t>
            </a:r>
            <a:endParaRPr lang="en-US" sz="17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788920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4632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re-syncs 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data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949440" y="105156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49440" y="1051560"/>
            <a:ext cx="192024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Shape 22"/>
          <p:cNvSpPr/>
          <p:nvPr/>
        </p:nvSpPr>
        <p:spPr>
          <a:xfrm>
            <a:off x="7589520" y="137160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8" name="Text 23"/>
          <p:cNvSpPr/>
          <p:nvPr/>
        </p:nvSpPr>
        <p:spPr>
          <a:xfrm>
            <a:off x="75895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694944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</a:t>
            </a:r>
            <a:endParaRPr lang="en-US" sz="17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788920"/>
            <a:ext cx="640080" cy="6400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4088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— 0 loss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228600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4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448056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4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34" name="Text 28"/>
          <p:cNvSpPr/>
          <p:nvPr/>
        </p:nvSpPr>
        <p:spPr>
          <a:xfrm>
            <a:off x="667512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4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 Test Results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9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9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92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seed orders in MongoDB → 3 rows in Snowflake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 Outage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Inserted 5 orders while Kafka was down → MongoDB accepted all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Restarted Kafka + Sink → All 8 records (3+5) in Snowflake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from recovery to full 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90 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Zero Data Loss?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07008"/>
            <a:ext cx="548640" cy="548640"/>
          </a:xfrm>
          <a:prstGeom prst="ellipse">
            <a:avLst/>
          </a:prstGeom>
          <a:solidFill>
            <a:srgbClr val="FFE5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984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143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Token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4630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Change Streams maintain a resume token — the source connector picks up exactly where it left off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121408"/>
            <a:ext cx="548640" cy="548640"/>
          </a:xfrm>
          <a:prstGeom prst="ellipse">
            <a:avLst/>
          </a:prstGeom>
          <a:solidFill>
            <a:srgbClr val="FFE5D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128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0574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 Existing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7320" y="2377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startup.mode=copy_existing re-copies all existing data on first connect or after offset loss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035808"/>
            <a:ext cx="548640" cy="548640"/>
          </a:xfrm>
          <a:prstGeom prst="ellipse">
            <a:avLst/>
          </a:prstGeom>
          <a:solidFill>
            <a:srgbClr val="FFE5D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272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9718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Durable Log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17320" y="3291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Kafka's durable log retains messages for 7 days by default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950208"/>
            <a:ext cx="548640" cy="548640"/>
          </a:xfrm>
          <a:prstGeom prst="ellipse">
            <a:avLst/>
          </a:prstGeom>
          <a:solidFill>
            <a:srgbClr val="FFE5D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4164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886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Exactly-Once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17320" y="4206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Snowpipe provides exactly-once delivery semantics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Resilience Across Failure Types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9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Lost?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9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92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broker 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connector retries until Kafka 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unreachable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Sink connector retries; Kafka retains 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network drops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connector reconnects and resumes from last 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restarts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stream resumes from stored resume 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power outage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copy_existing re-syncs all data on restart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371600"/>
            <a:ext cx="640080" cy="640080"/>
          </a:xfrm>
          <a:prstGeom prst="ellipse">
            <a:avLst/>
          </a:prstGeom>
          <a:solidFill>
            <a:srgbClr val="FFE5D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2801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CDC Pipeline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1691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→ Kafka → Snowflake in under 60 seconds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FFE5D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51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24688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Data Loss Proven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737360" y="2880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complete cloud-side outage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3749040"/>
            <a:ext cx="640080" cy="640080"/>
          </a:xfrm>
          <a:prstGeom prst="ellipse">
            <a:avLst/>
          </a:prstGeom>
          <a:solidFill>
            <a:srgbClr val="FFE5D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36576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Cost POC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37360" y="40690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open-source + free trial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49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A4921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C23A1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C23A1A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3474720" y="3017520"/>
            <a:ext cx="2194560" cy="0"/>
          </a:xfrm>
          <a:prstGeom prst="line">
            <a:avLst/>
          </a:prstGeom>
          <a:noFill/>
          <a:ln w="19050">
            <a:solidFill>
              <a:srgbClr val="FA49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EXL POC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Data Sync: MongoDB to Snowflake</dc:title>
  <dc:subject>PptxGenJS Presentation</dc:subject>
  <dc:creator>EXL POC Team</dc:creator>
  <cp:lastModifiedBy>EXL POC Team</cp:lastModifiedBy>
  <cp:revision>1</cp:revision>
  <dcterms:created xsi:type="dcterms:W3CDTF">2026-03-09T02:58:55Z</dcterms:created>
  <dcterms:modified xsi:type="dcterms:W3CDTF">2026-03-09T02:58:55Z</dcterms:modified>
</cp:coreProperties>
</file>